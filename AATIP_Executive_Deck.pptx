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454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AfCFTA Intelligence Systems  ·  MVP / Proof of Concept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AfCFTA AgroTrade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94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AI-enabled agricultural market transmission and coordination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94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system — diagnosing inefficiency, reconstructing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94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trade, and simulating AfCFTA policy interventions.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8229600" cy="914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T. Mazise  ·  BSc Food Science &amp; Technology (Food Biotech)  ·  MBA (AI)  ·  Kenya · Tanzania · Zambia · 2013–2022</a:t>
            </a:r>
            <a:endParaRPr lang="en-US" sz="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264" y="525284"/>
            <a:ext cx="3210536" cy="3210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African Agricultural Paradox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not production. It is coordination failure.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" y="1261872"/>
            <a:ext cx="2743200" cy="3291840"/>
          </a:xfrm>
          <a:prstGeom prst="rect">
            <a:avLst/>
          </a:prstGeom>
          <a:solidFill>
            <a:srgbClr val="162038"/>
          </a:solidFill>
          <a:ln w="1524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02336" y="20299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&amp; Deficit Coexist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2542032"/>
            <a:ext cx="24871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Zambia records maize surplus while Tanzania faces shortfalls — within the same season. Kenyan markets command prices that should attract imports, yet formal trade fails to materialize.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2743200" cy="3291840"/>
          </a:xfrm>
          <a:prstGeom prst="rect">
            <a:avLst/>
          </a:prstGeom>
          <a:solidFill>
            <a:srgbClr val="162038"/>
          </a:solidFill>
          <a:ln w="1524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10128" y="20299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Persists for Months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8416" y="2542032"/>
            <a:ext cx="24871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gaps large enough to fund profitable trade sit unresolved for 3–6+ months. Markets are not correcting. Something is systematically blocking arbitrage.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08192" y="1261872"/>
            <a:ext cx="2743200" cy="3291840"/>
          </a:xfrm>
          <a:prstGeom prst="rect">
            <a:avLst/>
          </a:prstGeom>
          <a:solidFill>
            <a:srgbClr val="162038"/>
          </a:solidFill>
          <a:ln w="1524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08192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0299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Blindness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2542032"/>
            <a:ext cx="24871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trade likely exceeds formal recorded flows by 2–4×. Policymakers are designing interventions for a trade system they can only partially see.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AfCFTA Creates the Framework.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Makes It Operational.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AfCFTA eliminates tariffs on 90% of goods and creates legal architecture for continental trade. This is necessary but insufficient. The World Bank estimates 81% trade increase potential by 2035 — but only if complementary reforms materialize in logistics, market intelligence, and border facilitation.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514600"/>
            <a:ext cx="237744" cy="219456"/>
          </a:xfrm>
          <a:prstGeom prst="rect">
            <a:avLst/>
          </a:prstGeom>
          <a:solidFill>
            <a:srgbClr val="2D7A3E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1460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25328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reform (AfCFTA)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25496"/>
            <a:ext cx="237744" cy="219456"/>
          </a:xfrm>
          <a:prstGeom prst="rect">
            <a:avLst/>
          </a:prstGeom>
          <a:solidFill>
            <a:srgbClr val="2D7A3E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254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28437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harmonization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136392"/>
            <a:ext cx="237744" cy="219456"/>
          </a:xfrm>
          <a:prstGeom prst="rect">
            <a:avLst/>
          </a:prstGeom>
          <a:solidFill>
            <a:srgbClr val="2D7A3E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3639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31546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447288"/>
            <a:ext cx="23774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472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34655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infrastructure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758184"/>
            <a:ext cx="23774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5818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37764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Corridor-level trade optimization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069080"/>
            <a:ext cx="23774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690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40873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trade visibility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379976"/>
            <a:ext cx="23774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7997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43982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impact quantification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94960" y="365760"/>
            <a:ext cx="3474720" cy="438912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94960" y="475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AATIP Lives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59552" y="960120"/>
            <a:ext cx="3154680" cy="804672"/>
          </a:xfrm>
          <a:prstGeom prst="rect">
            <a:avLst/>
          </a:prstGeom>
          <a:solidFill>
            <a:srgbClr val="162038"/>
          </a:solidFill>
          <a:ln w="10160">
            <a:solidFill>
              <a:srgbClr val="1B7A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0149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Inefficiency Diagnosis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50992" y="128930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where trade should occur but doesn't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59552" y="1892808"/>
            <a:ext cx="3154680" cy="804672"/>
          </a:xfrm>
          <a:prstGeom prst="rect">
            <a:avLst/>
          </a:prstGeom>
          <a:solidFill>
            <a:srgbClr val="162038"/>
          </a:solidFill>
          <a:ln w="10160">
            <a:solidFill>
              <a:srgbClr val="1B7A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19476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Intelligence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50992" y="222199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6 bilateral pairs by real-time opportunity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59552" y="2825496"/>
            <a:ext cx="3154680" cy="804672"/>
          </a:xfrm>
          <a:prstGeom prst="rect">
            <a:avLst/>
          </a:prstGeom>
          <a:solidFill>
            <a:srgbClr val="162038"/>
          </a:solidFill>
          <a:ln w="10160">
            <a:solidFill>
              <a:srgbClr val="1B7A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28803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Trade Detection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50992" y="315468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hidden flows (87Mt inferred)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559552" y="3758184"/>
            <a:ext cx="3154680" cy="804672"/>
          </a:xfrm>
          <a:prstGeom prst="rect">
            <a:avLst/>
          </a:prstGeom>
          <a:solidFill>
            <a:srgbClr val="162038"/>
          </a:solidFill>
          <a:ln w="10160">
            <a:solidFill>
              <a:srgbClr val="1B7A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38130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50992" y="408736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$9.3B impact quantified under AfCFTA Full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Question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960120"/>
          </a:xfrm>
          <a:prstGeom prst="rect">
            <a:avLst/>
          </a:prstGeom>
          <a:solidFill>
            <a:srgbClr val="162038"/>
          </a:solidFill>
          <a:ln w="19050">
            <a:solidFill>
              <a:srgbClr val="C8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3268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are African markets failing to converge, where should trade already be occurring, and what interventions restore efficient market transmission?"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4160520" cy="265176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214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Metric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Inefficiency Score (MIS)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798064"/>
            <a:ext cx="3840480" cy="530352"/>
          </a:xfrm>
          <a:prstGeom prst="rect">
            <a:avLst/>
          </a:prstGeom>
          <a:solidFill>
            <a:srgbClr val="0A1E38"/>
          </a:solidFill>
          <a:ln w="12700">
            <a:solidFill>
              <a:srgbClr val="0A1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98064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 = (P_partner − P_local − Logistics) / Logistics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40156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Scale-invariant. Corridor-comparable. Theory-grounded.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MIS = trade is economically viable but not occurring.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MIS = markets have converged efficiently.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64608" y="2029968"/>
            <a:ext cx="3840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56048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Threshold Interpretation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56048" y="2487168"/>
            <a:ext cx="1188720" cy="347472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2487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36208" y="25237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market failure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56048" y="2907792"/>
            <a:ext cx="1188720" cy="347472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9077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1.5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36208" y="29443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arbitrage signal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56048" y="3328416"/>
            <a:ext cx="11887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328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0.5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6208" y="3364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economically viable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56048" y="3749040"/>
            <a:ext cx="1188720" cy="347472"/>
          </a:xfrm>
          <a:prstGeom prst="rect">
            <a:avLst/>
          </a:prstGeom>
          <a:solidFill>
            <a:srgbClr val="2D7A3E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 – 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36208" y="3785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convergence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56048" y="4169664"/>
            <a:ext cx="118872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41696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−0.2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4206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converged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layers. Each feeds the next. No single black box.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87552"/>
            <a:ext cx="8595360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Analytical Engines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engine has a single, well-defined purpose. Each feeds the next. None is a black box.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43200" cy="1783080"/>
          </a:xfrm>
          <a:prstGeom prst="rect">
            <a:avLst/>
          </a:prstGeom>
          <a:solidFill>
            <a:srgbClr val="0D2545"/>
          </a:solidFill>
          <a:ln w="2540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02336" cy="32918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0881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&amp; Deficit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5819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n=200 · class_weight=balanced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2167128"/>
            <a:ext cx="2523744" cy="914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2585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Recall: 1.000 on 2022 test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1051560"/>
            <a:ext cx="2743200" cy="1783080"/>
          </a:xfrm>
          <a:prstGeom prst="rect">
            <a:avLst/>
          </a:prstGeom>
          <a:solidFill>
            <a:srgbClr val="0D2545"/>
          </a:solidFill>
          <a:ln w="2540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051560"/>
            <a:ext cx="402336" cy="32918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05156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94176" y="10881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28416" y="15819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AR(p) + Gradient Boosting · ECM residuals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28416" y="2167128"/>
            <a:ext cx="2523744" cy="914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2585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Forward MIS · MAPE: 0.084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17336" y="1051560"/>
            <a:ext cx="2743200" cy="1783080"/>
          </a:xfrm>
          <a:prstGeom prst="rect">
            <a:avLst/>
          </a:prstGeom>
          <a:solidFill>
            <a:srgbClr val="0D2545"/>
          </a:solidFill>
          <a:ln w="2540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1051560"/>
            <a:ext cx="402336" cy="32918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7336" y="105156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92824" y="10881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Matching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27064" y="15819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 Composite → Lasso → Hard Gates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27064" y="2167128"/>
            <a:ext cx="2523744" cy="914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22585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= 0.772 on 2022 test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017520"/>
            <a:ext cx="2743200" cy="1783080"/>
          </a:xfrm>
          <a:prstGeom prst="rect">
            <a:avLst/>
          </a:prstGeom>
          <a:solidFill>
            <a:srgbClr val="0D2545"/>
          </a:solidFill>
          <a:ln w="25400">
            <a:solidFill>
              <a:srgbClr val="B84C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017520"/>
            <a:ext cx="402336" cy="329184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01752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5528" y="30540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Trade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" y="3547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· Probabilistic Inference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" y="4133088"/>
            <a:ext cx="2523744" cy="9144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42245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87Mt implied informal volume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18688" y="3017520"/>
            <a:ext cx="2743200" cy="1783080"/>
          </a:xfrm>
          <a:prstGeom prst="rect">
            <a:avLst/>
          </a:prstGeom>
          <a:solidFill>
            <a:srgbClr val="0D2545"/>
          </a:solidFill>
          <a:ln w="25400">
            <a:solidFill>
              <a:srgbClr val="C8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18688" y="3017520"/>
            <a:ext cx="402336" cy="32918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8688" y="301752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94176" y="30540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28416" y="3547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mechanics · Elasticity sweep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28416" y="4133088"/>
            <a:ext cx="2523744" cy="914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28416" y="42245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$9.3B unlock under AfCFTA Full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17336" y="3017520"/>
            <a:ext cx="2743200" cy="1783080"/>
          </a:xfrm>
          <a:prstGeom prst="rect">
            <a:avLst/>
          </a:prstGeom>
          <a:solidFill>
            <a:srgbClr val="0D2545"/>
          </a:solidFill>
          <a:ln w="254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17336" y="3017520"/>
            <a:ext cx="402336" cy="329184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17336" y="301752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92824" y="305409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27064" y="3547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Engle-Granger · Granger · ECM · Beta OLS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27064" y="4133088"/>
            <a:ext cx="2523744" cy="9144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7064" y="42245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TAN→KEN: cointegrated + causal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1 — Market Efficiency Varies Dramatically by Direction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corridors are equal. Two routes run profitably; four remain structurally blocked.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87552"/>
            <a:ext cx="5852160" cy="2999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143000"/>
            <a:ext cx="25603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207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TAN→KEN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24928" y="1188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15453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viable 82% of months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09360" y="2057400"/>
            <a:ext cx="25603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21214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ZAM→KEN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24928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0" y="2459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55% of months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309360" y="2971800"/>
            <a:ext cx="25603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84C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KEN→TAN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24928" y="3017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−2.21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0" y="33741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blocked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309360" y="3886200"/>
            <a:ext cx="25603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84C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0" y="3950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KEN→ZAM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24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−2.06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00800" y="42885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blocked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2 — Arbitrage Is Structural, Not Seasonal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TAN→KEN shows positive MIS 82% of months — this is a systemic coordination failure, not a weather event.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cells = higher fraction of months with MIS &gt; 0 (trade economically viable). Source: AATIP computation from WFP VAM prices, 2016–2022.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3 — The Invisible Economy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million tonnes of implied informal trade — likely 2–4× formal recorded flows. Policy built on formal data alone is incomplete.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87552"/>
            <a:ext cx="64008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097280"/>
            <a:ext cx="1920240" cy="105156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03720" y="1143000"/>
            <a:ext cx="1920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87Mt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903720" y="1644091"/>
            <a:ext cx="192024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informal trade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03720" y="1917497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est. 2013–2022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903720" y="2331720"/>
            <a:ext cx="1920240" cy="1051560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03720" y="2377440"/>
            <a:ext cx="1920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903720" y="2878531"/>
            <a:ext cx="192024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P(Informal) TAN→KEN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3151937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signal corridor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903720" y="3566160"/>
            <a:ext cx="1920240" cy="1051560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03720" y="3611880"/>
            <a:ext cx="19202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2–4×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903720" y="4112971"/>
            <a:ext cx="192024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flow multiplier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903720" y="4386377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UNCTAD EAC benchmark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11480" y="4370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informal trade estimates are probabilistic inferences, not measurements. Calibrated against UNCTAD (2021).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4 — Anticipatory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doesn't react to market failures. It projects which corridors are about to become inefficient — before it happens.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87552"/>
            <a:ext cx="6035040" cy="31821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078992"/>
            <a:ext cx="2377440" cy="3712464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11704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MIS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65392" y="1965960"/>
            <a:ext cx="2231136" cy="749808"/>
          </a:xfrm>
          <a:prstGeom prst="rect">
            <a:avLst/>
          </a:prstGeom>
          <a:solidFill>
            <a:srgbClr val="162038"/>
          </a:solidFill>
          <a:ln w="10160">
            <a:solidFill>
              <a:srgbClr val="1B7A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0256" y="20208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ZAM→TAN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0" y="20025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+0.057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0256" y="2386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565392" y="2843784"/>
            <a:ext cx="2231136" cy="749808"/>
          </a:xfrm>
          <a:prstGeom prst="rect">
            <a:avLst/>
          </a:prstGeom>
          <a:solidFill>
            <a:srgbClr val="162038"/>
          </a:solidFill>
          <a:ln w="10160">
            <a:solidFill>
              <a:srgbClr val="1B7A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0256" y="28986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TAN→KEN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98080" y="28803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20256" y="3264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65392" y="3721608"/>
            <a:ext cx="2231136" cy="749808"/>
          </a:xfrm>
          <a:prstGeom prst="rect">
            <a:avLst/>
          </a:prstGeom>
          <a:solidFill>
            <a:srgbClr val="162038"/>
          </a:solidFill>
          <a:ln w="10160">
            <a:solidFill>
              <a:srgbClr val="1B7A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0256" y="3776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ZAM→KEN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498080" y="37581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20256" y="4142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but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65392" y="446227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P̂(t+h) = P(t)×(1+trend×√h)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√h dampening prevents divergence at long horizons.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implemented in scikit-learn 1.8. No black-box libraries. Full auditability.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54864" cy="80467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517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classification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0" y="11887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nonlinear interactions, interpretable feature importance, robust at small 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05472" y="1225296"/>
            <a:ext cx="1536192" cy="53035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243584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Recall = 1.000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11680"/>
            <a:ext cx="54864" cy="80467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" y="2450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0" y="21214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boosting captures price trend dynamics with climate leading indicators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5472" y="2157984"/>
            <a:ext cx="1536192" cy="53035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2176272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= 0.084 (TZ test)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44368"/>
            <a:ext cx="54864" cy="80467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LassoCV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corridor ranking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86000" y="305409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regularization auto-selects 26/37 features; sparse, interpretable β coefficients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5472" y="3090672"/>
            <a:ext cx="1536192" cy="53035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3108960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= 0.772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877056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877056"/>
            <a:ext cx="54864" cy="80467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" y="4315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trade detection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398678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no labeled training data exists for informal flows; anomaly = informal signal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05472" y="4023360"/>
            <a:ext cx="1536192" cy="530352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041648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87Mt inferred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4773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validation: TimeSeriesSplit(n=5) exclusively. Train 2013–2021. Test 2022. No random splits anywhere. Zero data leakage confirmed.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 Validation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proof that TAN→KEN is a genuinely integrated market — not just a correlated one.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87552"/>
            <a:ext cx="530352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42432" y="1078992"/>
            <a:ext cx="3090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42432" y="1078992"/>
            <a:ext cx="54864" cy="804672"/>
          </a:xfrm>
          <a:prstGeom prst="rect">
            <a:avLst/>
          </a:prstGeom>
          <a:solidFill>
            <a:srgbClr val="2D7A3E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88736" y="11338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Engle-Granger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Cointegration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88736" y="1572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TAN→KEN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88352" y="117043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 = −3.256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2D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0.002  ✓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42432" y="2011680"/>
            <a:ext cx="3090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42432" y="2011680"/>
            <a:ext cx="54864" cy="804672"/>
          </a:xfrm>
          <a:prstGeom prst="rect">
            <a:avLst/>
          </a:prstGeom>
          <a:solidFill>
            <a:srgbClr val="2D7A3E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88736" y="20665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88736" y="2505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TAN→KEN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88352" y="2103120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5.41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2D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0.002  ✓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42432" y="2944368"/>
            <a:ext cx="3090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42432" y="2944368"/>
            <a:ext cx="54864" cy="80467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88736" y="2999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888736" y="34381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TAN→KEN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88352" y="3035808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 months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adj.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42432" y="3877056"/>
            <a:ext cx="30906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42432" y="3877056"/>
            <a:ext cx="54864" cy="80467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88736" y="3931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β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888736" y="4370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TAN→KEN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388352" y="3968496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0.520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(asymm.)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11480" y="4700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NumPy/SciPy implementation — no external econometrics libraries. Full auditability.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Scorecard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criteria evaluated on held-out 2022 data the model never saw during training.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1920240" cy="1078992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30759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" y="1822948"/>
            <a:ext cx="19202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Recall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2103486"/>
            <a:ext cx="192024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 · 2022 test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1261872"/>
            <a:ext cx="1920240" cy="1078992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30759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50592" y="1822948"/>
            <a:ext cx="19202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50592" y="2103486"/>
            <a:ext cx="192024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E03 · Ranking quality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53712" y="1261872"/>
            <a:ext cx="1920240" cy="1078992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53712" y="130759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53712" y="1822948"/>
            <a:ext cx="19202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MAPE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2103486"/>
            <a:ext cx="192024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 · Tanzania test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56832" y="1261872"/>
            <a:ext cx="1920240" cy="1078992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56832" y="130759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656832" y="1822948"/>
            <a:ext cx="1920240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Cross-Val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56832" y="2103486"/>
            <a:ext cx="192024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E05 · corr = 1.000</a:t>
            </a:r>
            <a:endParaRPr lang="en-US" sz="8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14600"/>
            <a:ext cx="85953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Intelligence — Ranking and Opportunity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ranking: Economic composite → Lasso ML → Hard feasibility gates. 42% of observations gate-blocked.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87552"/>
            <a:ext cx="4754880" cy="252374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987552"/>
            <a:ext cx="3794760" cy="25237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3703320"/>
            <a:ext cx="8503920" cy="111556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" y="37856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TAN→KEN: The Primary Corridor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41148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months ranked #1  ·  Cointegrated  ·  Granger causal  ·  Highest informal signal  ·  Fastest ECM adjustment (0.79 months)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02920" y="43891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Converging evidence from ML ranking, econometrics, and informal trade detection — all pointing to the same corridor.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Simulation — What AfCFTA Can Unlock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simulation of AfCFTA border and logistics cost reductions — cross-validated at corr = 1.000.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" y="1298448"/>
            <a:ext cx="2761488" cy="3547872"/>
          </a:xfrm>
          <a:prstGeom prst="rect">
            <a:avLst/>
          </a:prstGeom>
          <a:solidFill>
            <a:srgbClr val="182B44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140817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2336" y="17739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2336" y="2103120"/>
            <a:ext cx="2542032" cy="9144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17627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0%  ·  Transport: 0%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2578608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02336" y="318211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tonnes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35112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2336" y="39502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corridor-months unlocked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298448"/>
            <a:ext cx="2761488" cy="354787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10128" y="140817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AfCFTA Phase 1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10128" y="17739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2027 Interim Target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2103120"/>
            <a:ext cx="2542032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17627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−20%  ·  Transport: 0%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578608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9.23Mt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310128" y="318211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tonnes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35112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$2.82B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10128" y="39502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corridor-months unlocked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08192" y="1298448"/>
            <a:ext cx="2761488" cy="3547872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140817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AfCFTA Full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17920" y="17739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2035 Full Implementation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2103120"/>
            <a:ext cx="2542032" cy="9144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17627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−50%  ·  Transport: −10%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2578608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30.31Mt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217920" y="318211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tonnes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51129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$9.26B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395020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corridor-months unlocked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equilibrium model. Base elasticity ε = 2.0. Sensitivity range: 1.0–3.5.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Simulation — Results and Sensitivity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is unambiguous. Magnitude depends on elasticity — uncertainty is honest and bounded.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87552"/>
            <a:ext cx="4846320" cy="257860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987552"/>
            <a:ext cx="3657600" cy="2578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3730752"/>
            <a:ext cx="8503920" cy="1115568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" y="380390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15.2Mt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02920" y="42611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(ε = 1.0)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075688" y="3803904"/>
            <a:ext cx="9144" cy="804672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67128" y="380390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30.3Mt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167128" y="42611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(ε = 2.0)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739896" y="3803904"/>
            <a:ext cx="9144" cy="804672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31336" y="380390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53.0Mt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831336" y="42611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(ε = 3.5)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404104" y="3803904"/>
            <a:ext cx="9144" cy="804672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95544" y="380390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$9.3B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495544" y="42611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068312" y="3803904"/>
            <a:ext cx="9144" cy="804672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59752" y="3803904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7159752" y="426110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 Intelligence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detection recall of 1.000 — every food security crisis month in 2022 correctly identified.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35905"/>
            <a:ext cx="6201263" cy="25358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31719" y="786176"/>
            <a:ext cx="1983681" cy="3925399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23159" y="877617"/>
            <a:ext cx="18652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50591" y="1609137"/>
            <a:ext cx="1746079" cy="640080"/>
          </a:xfrm>
          <a:prstGeom prst="rect">
            <a:avLst/>
          </a:prstGeom>
          <a:solidFill>
            <a:srgbClr val="162038"/>
          </a:solidFill>
          <a:ln w="10160">
            <a:solidFill>
              <a:srgbClr val="E07B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14599" y="1664001"/>
            <a:ext cx="17527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anomaly detected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14599" y="1938321"/>
            <a:ext cx="17527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Supply forecast adjusted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050591" y="2358945"/>
            <a:ext cx="1746079" cy="640080"/>
          </a:xfrm>
          <a:prstGeom prst="rect">
            <a:avLst/>
          </a:prstGeom>
          <a:solidFill>
            <a:srgbClr val="162038"/>
          </a:solidFill>
          <a:ln w="10160">
            <a:solidFill>
              <a:srgbClr val="B84C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14599" y="2413809"/>
            <a:ext cx="17527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Pre-harvest scarcity flag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14599" y="2688129"/>
            <a:ext cx="17527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Trade window alert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050591" y="3108753"/>
            <a:ext cx="1746079" cy="640080"/>
          </a:xfrm>
          <a:prstGeom prst="rect">
            <a:avLst/>
          </a:prstGeom>
          <a:solidFill>
            <a:srgbClr val="162038"/>
          </a:solidFill>
          <a:ln w="10160">
            <a:solidFill>
              <a:srgbClr val="B84C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14599" y="3163617"/>
            <a:ext cx="17527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persistence &gt; 3M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14599" y="3437937"/>
            <a:ext cx="17527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Structural intervention alert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050591" y="3858561"/>
            <a:ext cx="1746079" cy="640080"/>
          </a:xfrm>
          <a:prstGeom prst="rect">
            <a:avLst/>
          </a:prstGeom>
          <a:solidFill>
            <a:srgbClr val="162038"/>
          </a:solidFill>
          <a:ln w="10160">
            <a:solidFill>
              <a:srgbClr val="B84C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14599" y="3913425"/>
            <a:ext cx="17527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P(deficit) ≥ 0.45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14599" y="4187745"/>
            <a:ext cx="17527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4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Humanitarian early warning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Institutional Deployment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auditability, and reproducibility are structural — not added later.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78992"/>
            <a:ext cx="2761488" cy="5486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2252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Feature Registry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536192"/>
            <a:ext cx="2505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144 features formally catalogued with engine membership and leakage guard enforcement. Validation runs before any model trains — not as a post-hoc check.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78992"/>
            <a:ext cx="2761488" cy="5486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2252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Configuration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536192"/>
            <a:ext cx="2505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threshold, weight, and scenario parameter in a single settings.yaml. Change platform behaviour without touching code. Auditable and version-controlled.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08192" y="1078992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08192" y="1078992"/>
            <a:ext cx="2761488" cy="548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22529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Model Cards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536192"/>
            <a:ext cx="2505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governance card per engine: training data, performance metrics, assumptions, and known limitations. Satisfies institutional transparency requirements.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2980944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2980944"/>
            <a:ext cx="2761488" cy="5486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12724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Temporal Discipline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3438144"/>
            <a:ext cx="2505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random splits anywhere. TimeSeriesSplit exclusively. Year-based train/test boundaries. Temporal leakage audit runs at pipeline start — raises ValueError if violated.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80944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80944"/>
            <a:ext cx="2761488" cy="54864"/>
          </a:xfrm>
          <a:prstGeom prst="rect">
            <a:avLst/>
          </a:prstGeom>
          <a:solidFill>
            <a:srgbClr val="2D7A3E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312724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Zero Leakage Guard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28416" y="3438144"/>
            <a:ext cx="2505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policy output columns formally protected. Any violation raises a hard error before training begins. Zero violations confirmed across all engines and all features.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08192" y="2980944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08192" y="2980944"/>
            <a:ext cx="2761488" cy="54864"/>
          </a:xfrm>
          <a:prstGeom prst="rect">
            <a:avLst/>
          </a:prstGeom>
          <a:solidFill>
            <a:srgbClr val="2D7A3E"/>
          </a:solidFill>
          <a:ln w="12700">
            <a:solidFill>
              <a:srgbClr val="2D7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12724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Pipeline Orchestrator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3438144"/>
            <a:ext cx="25054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 runs all 6 engines in sequence. Engines fail gracefully — one failure doesn't stop the others. Full execution log with timestamps per engine.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874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8874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 |  Gerald T. Mazise  |  MVP / POC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POC to Continental Scale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built for scale. Data addition — not redesign — is what the next phase requires.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98448"/>
            <a:ext cx="2761488" cy="3520440"/>
          </a:xfrm>
          <a:prstGeom prst="rect">
            <a:avLst/>
          </a:prstGeom>
          <a:solidFill>
            <a:srgbClr val="162038"/>
          </a:solidFill>
          <a:ln w="25400">
            <a:solidFill>
              <a:srgbClr val="1B7A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298448"/>
            <a:ext cx="2761488" cy="42062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1673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COMPLETE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22494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 countries · 6 corridors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6883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2013–2022 historical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1272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 analytical engines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5661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Maize &amp; staple grains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0050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validation thresholds met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298448"/>
            <a:ext cx="2761488" cy="3520440"/>
          </a:xfrm>
          <a:prstGeom prst="rect">
            <a:avLst/>
          </a:prstGeom>
          <a:solidFill>
            <a:srgbClr val="162038"/>
          </a:solidFill>
          <a:ln w="25400">
            <a:solidFill>
              <a:srgbClr val="C89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298448"/>
            <a:ext cx="2761488" cy="420624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1673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NEXT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18288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83280" y="22494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East &amp; Southern Africa (15+)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6883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price feeds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1272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Additional commodities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5661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Satellite NDVI integration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40050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deployment layer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08192" y="1298448"/>
            <a:ext cx="2761488" cy="3520440"/>
          </a:xfrm>
          <a:prstGeom prst="rect">
            <a:avLst/>
          </a:prstGeom>
          <a:solidFill>
            <a:srgbClr val="182840"/>
          </a:solidFill>
          <a:ln w="254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08192" y="1298448"/>
            <a:ext cx="2761488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31673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FUTURE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18288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Intelligence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91072" y="22494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54 AU member states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91072" y="26883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Graph neural network corridors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91072" y="31272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Reinforcement learning optimization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72" y="35661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AfCFTA Secretariat integration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91072" y="40050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9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Development bank deployment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73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engineering, governance layer, modular engine design, and temporal validation discipline are all production-grade — scaling requires data, not redesign.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AfCFTA provides the legal framework.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424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AATIP provides the intelligence infrastructure.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82496"/>
            <a:ext cx="8229600" cy="9144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01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30.3Mt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5968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trade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(AfCFTA Full, base)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42032" y="1901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$9.3B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42032" y="25968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trade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unlock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26864" y="1901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87Mt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26864" y="25968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informal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detected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11696" y="1901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11696" y="25968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detection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(2022 test)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8229600" cy="9144"/>
          </a:xfrm>
          <a:prstGeom prst="rect">
            <a:avLst/>
          </a:prstGeom>
          <a:solidFill>
            <a:srgbClr val="2A3F58"/>
          </a:solidFill>
          <a:ln w="12700">
            <a:solidFill>
              <a:srgbClr val="2A3F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T. Mazise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7307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Food Science &amp; Technology (Food Biotech Major), Zimbabwe  ·  MBA (AI Major), India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0782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AfCFTA AgroTrade Intelligence Platform (AATIP)  ·  MVP / Proof of Concept  ·  Kenya · Tanzania · Zambia · 2013–2022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681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scikit-learn · NumPy · SciPy · Streamlit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2023</Words>
  <Application>Microsoft Office PowerPoint</Application>
  <PresentationFormat>On-screen Show (16:9)</PresentationFormat>
  <Paragraphs>370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AATIP — AfCFTA AgroTrade Intelligence Platform</dc:title>
  <dc:subject>PptxGenJS Presentation</dc:subject>
  <dc:creator>Gerald T. Mazise</dc:creator>
  <cp:lastModifiedBy>Windows User</cp:lastModifiedBy>
  <cp:revision>3</cp:revision>
  <dcterms:created xsi:type="dcterms:W3CDTF">2026-05-10T13:22:02Z</dcterms:created>
  <dcterms:modified xsi:type="dcterms:W3CDTF">2026-06-21T12:48:20Z</dcterms:modified>
</cp:coreProperties>
</file>